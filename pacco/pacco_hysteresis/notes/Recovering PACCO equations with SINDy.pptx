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ad303b1d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ad303b1d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d303b1d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d303b1d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d303b1d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ad303b1d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ad303b1d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ad303b1d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ad303b1d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ad303b1d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d303b1d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ad303b1d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d303b1d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d303b1d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d303b1d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ad303b1d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d303b1d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ad303b1d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04050" y="493650"/>
            <a:ext cx="7935900" cy="20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11"/>
              <a:t>Machine Learning for the study of glacial-interglacial cycles (TFM)</a:t>
            </a:r>
            <a:endParaRPr b="1" sz="361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44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60150" y="4066950"/>
            <a:ext cx="4577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2080"/>
              <a:t>Adrián Ordóñez Sanmartín</a:t>
            </a:r>
            <a:endParaRPr sz="20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80"/>
          </a:p>
        </p:txBody>
      </p:sp>
      <p:sp>
        <p:nvSpPr>
          <p:cNvPr id="56" name="Google Shape;56;p13"/>
          <p:cNvSpPr txBox="1"/>
          <p:nvPr/>
        </p:nvSpPr>
        <p:spPr>
          <a:xfrm>
            <a:off x="6781900" y="4514825"/>
            <a:ext cx="249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</a:rPr>
              <a:t>29/04/2026</a:t>
            </a:r>
            <a:endParaRPr sz="6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660075" y="2957250"/>
            <a:ext cx="8272200" cy="11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11">
                <a:solidFill>
                  <a:srgbClr val="434343"/>
                </a:solidFill>
              </a:rPr>
              <a:t>Experiment A1: SINDy for recovering PACCO equations</a:t>
            </a:r>
            <a:endParaRPr sz="261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44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149250" y="12805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570"/>
              <a:t>What is the plan and what have we already done?</a:t>
            </a:r>
            <a:endParaRPr b="1" sz="2880"/>
          </a:p>
        </p:txBody>
      </p:sp>
      <p:sp>
        <p:nvSpPr>
          <p:cNvPr id="64" name="Google Shape;64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961500" y="980650"/>
            <a:ext cx="82812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Experiment A -  SINDy to PACCO with all the variables</a:t>
            </a:r>
            <a:endParaRPr b="1" sz="1411">
              <a:solidFill>
                <a:srgbClr val="434343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A1 - Not noisy, equally spaced.</a:t>
            </a:r>
            <a:endParaRPr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A2 - Noisy, equally spaced.</a:t>
            </a:r>
            <a:endParaRPr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A3 - Not noisy, unequally spaced.</a:t>
            </a:r>
            <a:endParaRPr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A4 - Not noisy, unequally spaced.</a:t>
            </a:r>
            <a:endParaRPr sz="10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Experiment B - SINDy to PACCO only with proxy observables (“H”, C, I).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11">
                <a:solidFill>
                  <a:srgbClr val="434343"/>
                </a:solidFill>
              </a:rPr>
              <a:t>	B1 - </a:t>
            </a: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Not noisy, equally spaced.</a:t>
            </a:r>
            <a:endParaRPr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11">
                <a:solidFill>
                  <a:srgbClr val="434343"/>
                </a:solidFill>
              </a:rPr>
              <a:t>	B2 - </a:t>
            </a:r>
            <a:r>
              <a:rPr lang="es">
                <a:solidFill>
                  <a:srgbClr val="434343"/>
                </a:solidFill>
                <a:highlight>
                  <a:srgbClr val="FFFFFF"/>
                </a:highlight>
              </a:rPr>
              <a:t>Not noisy, unequally spaced.</a:t>
            </a:r>
            <a:endParaRPr sz="10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Experiment C - SINDy to proxy data. 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11">
                <a:solidFill>
                  <a:srgbClr val="434343"/>
                </a:solidFill>
              </a:rPr>
              <a:t>	We will define this in the future.</a:t>
            </a:r>
            <a:endParaRPr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1">
              <a:solidFill>
                <a:srgbClr val="434343"/>
              </a:solidFill>
            </a:endParaRPr>
          </a:p>
        </p:txBody>
      </p:sp>
      <p:pic>
        <p:nvPicPr>
          <p:cNvPr id="66" name="Google Shape;66;p14" title="580b57fcd9996e24bc43c4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918677" y="1317699"/>
            <a:ext cx="2466273" cy="53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580b57fcd9996e24bc43c4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918675" y="3200049"/>
            <a:ext cx="2212925" cy="5377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type="ctrTitle"/>
          </p:nvPr>
        </p:nvSpPr>
        <p:spPr>
          <a:xfrm>
            <a:off x="7047900" y="4338650"/>
            <a:ext cx="20961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1413">
                <a:solidFill>
                  <a:srgbClr val="000000"/>
                </a:solidFill>
              </a:rPr>
              <a:t>In the previous weeks we did this. </a:t>
            </a:r>
            <a:endParaRPr sz="1413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413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" sz="1413">
                <a:solidFill>
                  <a:srgbClr val="000000"/>
                </a:solidFill>
              </a:rPr>
              <a:t>We found 100 ky cycles. Poor stability and not that sparse results.</a:t>
            </a:r>
            <a:endParaRPr sz="1413">
              <a:solidFill>
                <a:srgbClr val="000000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7075500" y="1382950"/>
            <a:ext cx="20409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3">
                <a:solidFill>
                  <a:schemeClr val="dk1"/>
                </a:solidFill>
              </a:rPr>
              <a:t>Now </a:t>
            </a:r>
            <a:r>
              <a:rPr lang="es" sz="1413">
                <a:solidFill>
                  <a:schemeClr val="dk1"/>
                </a:solidFill>
              </a:rPr>
              <a:t>we try this, to really validate the method. </a:t>
            </a:r>
            <a:endParaRPr sz="1692">
              <a:solidFill>
                <a:schemeClr val="dk1"/>
              </a:solidFill>
            </a:endParaRPr>
          </a:p>
        </p:txBody>
      </p:sp>
      <p:pic>
        <p:nvPicPr>
          <p:cNvPr id="70" name="Google Shape;70;p14" title="60fe968c3d624000048712a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603413" y="2514900"/>
            <a:ext cx="3304925" cy="5504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296050" y="980650"/>
            <a:ext cx="150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3">
                <a:solidFill>
                  <a:schemeClr val="dk1"/>
                </a:solidFill>
              </a:rPr>
              <a:t>Validation</a:t>
            </a:r>
            <a:endParaRPr b="1" sz="1692"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96050" y="4227850"/>
            <a:ext cx="15060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3">
                <a:solidFill>
                  <a:schemeClr val="dk1"/>
                </a:solidFill>
              </a:rPr>
              <a:t>Real </a:t>
            </a:r>
            <a:endParaRPr b="1" sz="1413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3">
                <a:solidFill>
                  <a:schemeClr val="dk1"/>
                </a:solidFill>
              </a:rPr>
              <a:t>results</a:t>
            </a:r>
            <a:endParaRPr b="1" sz="1692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2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ctrTitle"/>
          </p:nvPr>
        </p:nvSpPr>
        <p:spPr>
          <a:xfrm>
            <a:off x="-2409175" y="13140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570"/>
              <a:t>A1 - Methodology</a:t>
            </a:r>
            <a:endParaRPr b="1" sz="2880"/>
          </a:p>
        </p:txBody>
      </p:sp>
      <p:sp>
        <p:nvSpPr>
          <p:cNvPr id="79" name="Google Shape;79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097875" y="1625200"/>
            <a:ext cx="7274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dT/dt = F(H, B, H_sed, C, T, I)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dC/dt = F(C, T)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dH/dy =  F(T, </a:t>
            </a:r>
            <a:r>
              <a:rPr b="1" lang="es" sz="1411">
                <a:solidFill>
                  <a:srgbClr val="FF0000"/>
                </a:solidFill>
              </a:rPr>
              <a:t>α</a:t>
            </a:r>
            <a:r>
              <a:rPr b="1" lang="es" sz="1411">
                <a:solidFill>
                  <a:schemeClr val="dk1"/>
                </a:solidFill>
              </a:rPr>
              <a:t>, H^3, I</a:t>
            </a:r>
            <a:r>
              <a:rPr b="1" lang="es" sz="1411">
                <a:solidFill>
                  <a:srgbClr val="434343"/>
                </a:solidFill>
              </a:rPr>
              <a:t>)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dB/dt = F(H, B)</a:t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1">
              <a:solidFill>
                <a:srgbClr val="434343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d(H_sed)/dt = F(T, H^4)</a:t>
            </a:r>
            <a:endParaRPr sz="2111">
              <a:solidFill>
                <a:srgbClr val="434343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26675" y="869300"/>
            <a:ext cx="83619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We try to recover PACCO equations (for the 5 pronostical variables). In the first approximation, this are its dependencies: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626675" y="401545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We also find for hysteresis, using the continuation method. </a:t>
            </a:r>
            <a:endParaRPr/>
          </a:p>
        </p:txBody>
      </p:sp>
      <p:pic>
        <p:nvPicPr>
          <p:cNvPr id="83" name="Google Shape;83;p15" title="60fe968c3d624000048712a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799993">
            <a:off x="3394573" y="2538052"/>
            <a:ext cx="2460800" cy="3138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5917575" y="2106700"/>
            <a:ext cx="26949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We have not included the albedo variable, since its anomalous behaviour confused SINDy</a:t>
            </a:r>
            <a:endParaRPr/>
          </a:p>
        </p:txBody>
      </p:sp>
      <p:pic>
        <p:nvPicPr>
          <p:cNvPr id="85" name="Google Shape;85;p15" title="bracket-parenthesis-mathematics-order-of-operations-expression-mathematics-06e2c23191590ff4c34ae4d8f13834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750" y="1526488"/>
            <a:ext cx="467800" cy="233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3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-1255775" y="-13125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1 - </a:t>
            </a:r>
            <a:r>
              <a:rPr b="1" lang="es" sz="2270"/>
              <a:t> </a:t>
            </a:r>
            <a:r>
              <a:rPr b="1" lang="es" sz="2270"/>
              <a:t>Best fit. Hysteresis. Not sparse.</a:t>
            </a:r>
            <a:endParaRPr b="1" sz="2580"/>
          </a:p>
        </p:txBody>
      </p:sp>
      <p:sp>
        <p:nvSpPr>
          <p:cNvPr id="92" name="Google Shape;92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 title="EXP_20260427_142332_T.png"/>
          <p:cNvPicPr preferRelativeResize="0"/>
          <p:nvPr/>
        </p:nvPicPr>
        <p:blipFill rotWithShape="1">
          <a:blip r:embed="rId3">
            <a:alphaModFix/>
          </a:blip>
          <a:srcRect b="0" l="49892" r="0" t="0"/>
          <a:stretch/>
        </p:blipFill>
        <p:spPr>
          <a:xfrm>
            <a:off x="1773750" y="1194250"/>
            <a:ext cx="1905751" cy="275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EXP_20260427_142332_B.png"/>
          <p:cNvPicPr preferRelativeResize="0"/>
          <p:nvPr/>
        </p:nvPicPr>
        <p:blipFill rotWithShape="1">
          <a:blip r:embed="rId4">
            <a:alphaModFix/>
          </a:blip>
          <a:srcRect b="0" l="49987" r="0" t="0"/>
          <a:stretch/>
        </p:blipFill>
        <p:spPr>
          <a:xfrm>
            <a:off x="7334058" y="1219925"/>
            <a:ext cx="1680876" cy="270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EXP_20260427_142332_C.png"/>
          <p:cNvPicPr preferRelativeResize="0"/>
          <p:nvPr/>
        </p:nvPicPr>
        <p:blipFill rotWithShape="1">
          <a:blip r:embed="rId5">
            <a:alphaModFix/>
          </a:blip>
          <a:srcRect b="0" l="50394" r="0" t="0"/>
          <a:stretch/>
        </p:blipFill>
        <p:spPr>
          <a:xfrm>
            <a:off x="5526941" y="1219913"/>
            <a:ext cx="1775099" cy="270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EXP_20260427_142332_H.png"/>
          <p:cNvPicPr preferRelativeResize="0"/>
          <p:nvPr/>
        </p:nvPicPr>
        <p:blipFill rotWithShape="1">
          <a:blip r:embed="rId6">
            <a:alphaModFix/>
          </a:blip>
          <a:srcRect b="0" l="49827" r="0" t="0"/>
          <a:stretch/>
        </p:blipFill>
        <p:spPr>
          <a:xfrm>
            <a:off x="93275" y="1194250"/>
            <a:ext cx="1680876" cy="275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EXP_20260427_142332_Hsed.png"/>
          <p:cNvPicPr preferRelativeResize="0"/>
          <p:nvPr/>
        </p:nvPicPr>
        <p:blipFill rotWithShape="1">
          <a:blip r:embed="rId7">
            <a:alphaModFix/>
          </a:blip>
          <a:srcRect b="0" l="49975" r="0" t="0"/>
          <a:stretch/>
        </p:blipFill>
        <p:spPr>
          <a:xfrm>
            <a:off x="3679100" y="1194250"/>
            <a:ext cx="1863849" cy="275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372350" y="3370779"/>
            <a:ext cx="254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T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1371675" y="3370775"/>
            <a:ext cx="3561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829275" y="3370775"/>
            <a:ext cx="10833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H_sed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6882300" y="3370775"/>
            <a:ext cx="892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C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8683800" y="3370775"/>
            <a:ext cx="4602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B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09600" y="3928600"/>
            <a:ext cx="5025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Phase diagrams for the 5 prognostic variables. In </a:t>
            </a:r>
            <a:r>
              <a:rPr lang="es" sz="1611">
                <a:solidFill>
                  <a:srgbClr val="0000FF"/>
                </a:solidFill>
              </a:rPr>
              <a:t>blue</a:t>
            </a:r>
            <a:r>
              <a:rPr lang="es" sz="1611">
                <a:solidFill>
                  <a:srgbClr val="434343"/>
                </a:solidFill>
              </a:rPr>
              <a:t>, with the numerical derivative. In </a:t>
            </a:r>
            <a:r>
              <a:rPr lang="es" sz="1611">
                <a:solidFill>
                  <a:srgbClr val="FF0000"/>
                </a:solidFill>
              </a:rPr>
              <a:t>red</a:t>
            </a:r>
            <a:r>
              <a:rPr lang="es" sz="1611">
                <a:solidFill>
                  <a:srgbClr val="434343"/>
                </a:solidFill>
              </a:rPr>
              <a:t>, with the discovered derivative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5729700" y="3928600"/>
            <a:ext cx="31977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Trajectories are well represented for all variables. No one was stable under integration. </a:t>
            </a:r>
            <a:endParaRPr b="1"/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8">
            <a:alphaModFix/>
          </a:blip>
          <a:srcRect b="83588" l="0" r="0" t="0"/>
          <a:stretch/>
        </p:blipFill>
        <p:spPr>
          <a:xfrm>
            <a:off x="538988" y="572000"/>
            <a:ext cx="8144073" cy="6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4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ctrTitle"/>
          </p:nvPr>
        </p:nvSpPr>
        <p:spPr>
          <a:xfrm>
            <a:off x="-1166875" y="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1 -  Best fit. Hysteresis. Not sparse.</a:t>
            </a:r>
            <a:endParaRPr b="1" sz="2580"/>
          </a:p>
        </p:txBody>
      </p:sp>
      <p:sp>
        <p:nvSpPr>
          <p:cNvPr id="112" name="Google Shape;112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6161513" y="2391900"/>
            <a:ext cx="24399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Hysteresis is found for all 5 variables vs I. </a:t>
            </a:r>
            <a:endParaRPr b="1"/>
          </a:p>
        </p:txBody>
      </p:sp>
      <p:pic>
        <p:nvPicPr>
          <p:cNvPr id="114" name="Google Shape;114;p17" title="EXP_20260427_142332_hysteresis_algebraic_H_vs_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50" y="806375"/>
            <a:ext cx="5322424" cy="399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60fe968c3d624000048712a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6869663" y="1863475"/>
            <a:ext cx="871175" cy="31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6085300" y="949200"/>
            <a:ext cx="24399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H*T term made the hysteresis appear</a:t>
            </a:r>
            <a:r>
              <a:rPr b="1" lang="es" sz="1611">
                <a:solidFill>
                  <a:srgbClr val="434343"/>
                </a:solidFill>
              </a:rPr>
              <a:t> </a:t>
            </a:r>
            <a:endParaRPr b="1"/>
          </a:p>
        </p:txBody>
      </p:sp>
      <p:sp>
        <p:nvSpPr>
          <p:cNvPr id="117" name="Google Shape;117;p17"/>
          <p:cNvSpPr txBox="1"/>
          <p:nvPr/>
        </p:nvSpPr>
        <p:spPr>
          <a:xfrm>
            <a:off x="6161513" y="3471400"/>
            <a:ext cx="2439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For reference: </a:t>
            </a:r>
            <a:endParaRPr sz="161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I = 1 is 565 W/m^2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5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ctrTitle"/>
          </p:nvPr>
        </p:nvSpPr>
        <p:spPr>
          <a:xfrm>
            <a:off x="-1255775" y="-2965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2 -  Sparser, but not hysteretic.</a:t>
            </a:r>
            <a:endParaRPr b="1" sz="2580"/>
          </a:p>
        </p:txBody>
      </p:sp>
      <p:sp>
        <p:nvSpPr>
          <p:cNvPr id="124" name="Google Shape;124;p18"/>
          <p:cNvSpPr txBox="1"/>
          <p:nvPr/>
        </p:nvSpPr>
        <p:spPr>
          <a:xfrm>
            <a:off x="3360750" y="3370229"/>
            <a:ext cx="254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T</a:t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6610024" y="3975775"/>
            <a:ext cx="2437200" cy="11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1">
                <a:solidFill>
                  <a:srgbClr val="434343"/>
                </a:solidFill>
              </a:rPr>
              <a:t>Phase diagrams for the 5 prognostic variables. In </a:t>
            </a:r>
            <a:r>
              <a:rPr lang="es" sz="1211">
                <a:solidFill>
                  <a:srgbClr val="0000FF"/>
                </a:solidFill>
              </a:rPr>
              <a:t>blue</a:t>
            </a:r>
            <a:r>
              <a:rPr lang="es" sz="1211">
                <a:solidFill>
                  <a:srgbClr val="434343"/>
                </a:solidFill>
              </a:rPr>
              <a:t>, with the numerical derivative. In </a:t>
            </a:r>
            <a:r>
              <a:rPr lang="es" sz="1211">
                <a:solidFill>
                  <a:srgbClr val="FF0000"/>
                </a:solidFill>
              </a:rPr>
              <a:t>red</a:t>
            </a:r>
            <a:r>
              <a:rPr lang="es" sz="1211">
                <a:solidFill>
                  <a:srgbClr val="434343"/>
                </a:solidFill>
              </a:rPr>
              <a:t>, with the discovered derivative</a:t>
            </a:r>
            <a:endParaRPr sz="1000"/>
          </a:p>
        </p:txBody>
      </p:sp>
      <p:sp>
        <p:nvSpPr>
          <p:cNvPr id="126" name="Google Shape;126;p18"/>
          <p:cNvSpPr txBox="1"/>
          <p:nvPr/>
        </p:nvSpPr>
        <p:spPr>
          <a:xfrm>
            <a:off x="1666550" y="4069975"/>
            <a:ext cx="46323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We have lost some </a:t>
            </a:r>
            <a:r>
              <a:rPr b="1" lang="es" sz="1611">
                <a:solidFill>
                  <a:srgbClr val="434343"/>
                </a:solidFill>
              </a:rPr>
              <a:t>precision. Even the attractor in T. Not even one of the variables was stable over integration</a:t>
            </a:r>
            <a:endParaRPr b="1"/>
          </a:p>
        </p:txBody>
      </p:sp>
      <p:pic>
        <p:nvPicPr>
          <p:cNvPr id="127" name="Google Shape;127;p18" title="EXP_20260429_103356_H.png"/>
          <p:cNvPicPr preferRelativeResize="0"/>
          <p:nvPr/>
        </p:nvPicPr>
        <p:blipFill rotWithShape="1">
          <a:blip r:embed="rId3">
            <a:alphaModFix/>
          </a:blip>
          <a:srcRect b="0" l="50087" r="0" t="0"/>
          <a:stretch/>
        </p:blipFill>
        <p:spPr>
          <a:xfrm>
            <a:off x="100550" y="1081650"/>
            <a:ext cx="1787423" cy="275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EXP_20260429_103356_Hsed.png"/>
          <p:cNvPicPr preferRelativeResize="0"/>
          <p:nvPr/>
        </p:nvPicPr>
        <p:blipFill rotWithShape="1">
          <a:blip r:embed="rId4">
            <a:alphaModFix/>
          </a:blip>
          <a:srcRect b="0" l="49686" r="0" t="0"/>
          <a:stretch/>
        </p:blipFill>
        <p:spPr>
          <a:xfrm>
            <a:off x="3673700" y="1081650"/>
            <a:ext cx="1886577" cy="275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EXP_20260429_103356_T.png"/>
          <p:cNvPicPr preferRelativeResize="0"/>
          <p:nvPr/>
        </p:nvPicPr>
        <p:blipFill rotWithShape="1">
          <a:blip r:embed="rId5">
            <a:alphaModFix/>
          </a:blip>
          <a:srcRect b="0" l="49839" r="0" t="0"/>
          <a:stretch/>
        </p:blipFill>
        <p:spPr>
          <a:xfrm>
            <a:off x="1903325" y="1081650"/>
            <a:ext cx="1787423" cy="275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title="EXP_20260429_103356_B.png"/>
          <p:cNvPicPr preferRelativeResize="0"/>
          <p:nvPr/>
        </p:nvPicPr>
        <p:blipFill rotWithShape="1">
          <a:blip r:embed="rId6">
            <a:alphaModFix/>
          </a:blip>
          <a:srcRect b="0" l="50217" r="0" t="0"/>
          <a:stretch/>
        </p:blipFill>
        <p:spPr>
          <a:xfrm>
            <a:off x="7328775" y="1081650"/>
            <a:ext cx="1718451" cy="275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EXP_20260429_103356_C.png"/>
          <p:cNvPicPr preferRelativeResize="0"/>
          <p:nvPr/>
        </p:nvPicPr>
        <p:blipFill rotWithShape="1">
          <a:blip r:embed="rId7">
            <a:alphaModFix/>
          </a:blip>
          <a:srcRect b="0" l="49814" r="0" t="0"/>
          <a:stretch/>
        </p:blipFill>
        <p:spPr>
          <a:xfrm>
            <a:off x="5543225" y="1081650"/>
            <a:ext cx="1767726" cy="2757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1580775" y="3312149"/>
            <a:ext cx="627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3382841" y="3312149"/>
            <a:ext cx="11997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T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4855608" y="3300534"/>
            <a:ext cx="10833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H_sed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7016120" y="3312149"/>
            <a:ext cx="892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C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8741875" y="3300534"/>
            <a:ext cx="4602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B</a:t>
            </a:r>
            <a:endParaRPr/>
          </a:p>
        </p:txBody>
      </p:sp>
      <p:pic>
        <p:nvPicPr>
          <p:cNvPr id="137" name="Google Shape;137;p18" title="bracket-parenthesis-mathematics-order-of-operations-expression-mathematics-06e2c23191590ff4c34ae4d8f138342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5400000">
            <a:off x="3647588" y="491912"/>
            <a:ext cx="287300" cy="698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9">
            <a:alphaModFix/>
          </a:blip>
          <a:srcRect b="92461" l="59849" r="0" t="4206"/>
          <a:stretch/>
        </p:blipFill>
        <p:spPr>
          <a:xfrm>
            <a:off x="1417475" y="740375"/>
            <a:ext cx="6005473" cy="2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9">
            <a:alphaModFix/>
          </a:blip>
          <a:srcRect b="92898" l="78" r="91175" t="10117"/>
          <a:stretch/>
        </p:blipFill>
        <p:spPr>
          <a:xfrm flipH="1" rot="10800000">
            <a:off x="6775955" y="740387"/>
            <a:ext cx="1308273" cy="21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6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6161513" y="3471400"/>
            <a:ext cx="24399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For reference: </a:t>
            </a:r>
            <a:endParaRPr sz="161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1"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solidFill>
                  <a:srgbClr val="434343"/>
                </a:solidFill>
              </a:rPr>
              <a:t>I = 1 is 565 W/m^2</a:t>
            </a:r>
            <a:endParaRPr/>
          </a:p>
        </p:txBody>
      </p:sp>
      <p:sp>
        <p:nvSpPr>
          <p:cNvPr id="147" name="Google Shape;147;p19"/>
          <p:cNvSpPr txBox="1"/>
          <p:nvPr>
            <p:ph type="ctrTitle"/>
          </p:nvPr>
        </p:nvSpPr>
        <p:spPr>
          <a:xfrm>
            <a:off x="-1255775" y="-2965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2 -  Sparser, but not hysteretic.</a:t>
            </a:r>
            <a:endParaRPr b="1" sz="2580"/>
          </a:p>
        </p:txBody>
      </p:sp>
      <p:pic>
        <p:nvPicPr>
          <p:cNvPr id="148" name="Google Shape;148;p19" title="EXP_20260429_103356_hysteresis_algebraic_H_vs_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02" y="860449"/>
            <a:ext cx="5320324" cy="399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6161513" y="1891050"/>
            <a:ext cx="24399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Hysteresis is lost for all 5 variables vs I. </a:t>
            </a:r>
            <a:endParaRPr b="1"/>
          </a:p>
        </p:txBody>
      </p:sp>
      <p:sp>
        <p:nvSpPr>
          <p:cNvPr id="150" name="Google Shape;150;p19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7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ctrTitle"/>
          </p:nvPr>
        </p:nvSpPr>
        <p:spPr>
          <a:xfrm>
            <a:off x="-2382300" y="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3 -  Last 2 Myr. </a:t>
            </a:r>
            <a:endParaRPr b="1" sz="2580"/>
          </a:p>
        </p:txBody>
      </p:sp>
      <p:sp>
        <p:nvSpPr>
          <p:cNvPr id="156" name="Google Shape;156;p20"/>
          <p:cNvSpPr txBox="1"/>
          <p:nvPr/>
        </p:nvSpPr>
        <p:spPr>
          <a:xfrm>
            <a:off x="2788307" y="4788339"/>
            <a:ext cx="254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T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949051" y="4776401"/>
            <a:ext cx="3561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4307954" y="4769991"/>
            <a:ext cx="10833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H_sed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6316726" y="4756590"/>
            <a:ext cx="8925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C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8054285" y="4754944"/>
            <a:ext cx="4602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11">
                <a:solidFill>
                  <a:srgbClr val="434343"/>
                </a:solidFill>
              </a:rPr>
              <a:t>B</a:t>
            </a:r>
            <a:endParaRPr/>
          </a:p>
        </p:txBody>
      </p:sp>
      <p:pic>
        <p:nvPicPr>
          <p:cNvPr id="161" name="Google Shape;161;p20" title="EXP_20260427_125837_Hsed.png"/>
          <p:cNvPicPr preferRelativeResize="0"/>
          <p:nvPr/>
        </p:nvPicPr>
        <p:blipFill rotWithShape="1">
          <a:blip r:embed="rId3">
            <a:alphaModFix/>
          </a:blip>
          <a:srcRect b="0" l="0" r="49582" t="0"/>
          <a:stretch/>
        </p:blipFill>
        <p:spPr>
          <a:xfrm>
            <a:off x="3742504" y="991618"/>
            <a:ext cx="1691377" cy="194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title="EXP_20260427_125837_T.png"/>
          <p:cNvPicPr preferRelativeResize="0"/>
          <p:nvPr/>
        </p:nvPicPr>
        <p:blipFill rotWithShape="1">
          <a:blip r:embed="rId4">
            <a:alphaModFix/>
          </a:blip>
          <a:srcRect b="0" l="0" r="49982" t="0"/>
          <a:stretch/>
        </p:blipFill>
        <p:spPr>
          <a:xfrm>
            <a:off x="1972798" y="1022293"/>
            <a:ext cx="1723709" cy="196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title="EXP_20260427_125837_B.png"/>
          <p:cNvPicPr preferRelativeResize="0"/>
          <p:nvPr/>
        </p:nvPicPr>
        <p:blipFill rotWithShape="1">
          <a:blip r:embed="rId5">
            <a:alphaModFix/>
          </a:blip>
          <a:srcRect b="0" l="50426" r="0" t="0"/>
          <a:stretch/>
        </p:blipFill>
        <p:spPr>
          <a:xfrm>
            <a:off x="7275612" y="2913443"/>
            <a:ext cx="1691377" cy="194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title="EXP_20260427_125837_C.png"/>
          <p:cNvPicPr preferRelativeResize="0"/>
          <p:nvPr/>
        </p:nvPicPr>
        <p:blipFill rotWithShape="1">
          <a:blip r:embed="rId6">
            <a:alphaModFix/>
          </a:blip>
          <a:srcRect b="0" l="50426" r="0" t="0"/>
          <a:stretch/>
        </p:blipFill>
        <p:spPr>
          <a:xfrm>
            <a:off x="5570929" y="2926643"/>
            <a:ext cx="1691377" cy="194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title="EXP_20260427_125837_H.png"/>
          <p:cNvPicPr preferRelativeResize="0"/>
          <p:nvPr/>
        </p:nvPicPr>
        <p:blipFill rotWithShape="1">
          <a:blip r:embed="rId7">
            <a:alphaModFix/>
          </a:blip>
          <a:srcRect b="0" l="50426" r="0" t="0"/>
          <a:stretch/>
        </p:blipFill>
        <p:spPr>
          <a:xfrm>
            <a:off x="209530" y="2940743"/>
            <a:ext cx="1691377" cy="194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4538401" y="105300"/>
            <a:ext cx="46056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1">
                <a:solidFill>
                  <a:srgbClr val="434343"/>
                </a:solidFill>
              </a:rPr>
              <a:t>Phase diagrams for the 5 prognostic variables. In </a:t>
            </a:r>
            <a:r>
              <a:rPr lang="es" sz="1211">
                <a:solidFill>
                  <a:srgbClr val="0000FF"/>
                </a:solidFill>
              </a:rPr>
              <a:t>blue</a:t>
            </a:r>
            <a:r>
              <a:rPr lang="es" sz="1211">
                <a:solidFill>
                  <a:srgbClr val="434343"/>
                </a:solidFill>
              </a:rPr>
              <a:t>, with the PACCO data.  In </a:t>
            </a:r>
            <a:r>
              <a:rPr lang="es" sz="1211">
                <a:solidFill>
                  <a:srgbClr val="FF0000"/>
                </a:solidFill>
              </a:rPr>
              <a:t>red</a:t>
            </a:r>
            <a:r>
              <a:rPr lang="es" sz="1211">
                <a:solidFill>
                  <a:srgbClr val="434343"/>
                </a:solidFill>
              </a:rPr>
              <a:t>, with the discovered model.</a:t>
            </a:r>
            <a:endParaRPr sz="1000"/>
          </a:p>
        </p:txBody>
      </p:sp>
      <p:pic>
        <p:nvPicPr>
          <p:cNvPr id="167" name="Google Shape;167;p20" title="EXP_20260427_125837_H.png"/>
          <p:cNvPicPr preferRelativeResize="0"/>
          <p:nvPr/>
        </p:nvPicPr>
        <p:blipFill rotWithShape="1">
          <a:blip r:embed="rId7">
            <a:alphaModFix/>
          </a:blip>
          <a:srcRect b="0" l="0" r="50426" t="0"/>
          <a:stretch/>
        </p:blipFill>
        <p:spPr>
          <a:xfrm>
            <a:off x="182593" y="991618"/>
            <a:ext cx="1691377" cy="194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title="EXP_20260427_125837_C.png"/>
          <p:cNvPicPr preferRelativeResize="0"/>
          <p:nvPr/>
        </p:nvPicPr>
        <p:blipFill rotWithShape="1">
          <a:blip r:embed="rId6">
            <a:alphaModFix/>
          </a:blip>
          <a:srcRect b="0" l="0" r="50426" t="0"/>
          <a:stretch/>
        </p:blipFill>
        <p:spPr>
          <a:xfrm>
            <a:off x="5536292" y="985353"/>
            <a:ext cx="1691377" cy="194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title="EXP_20260427_125837_B.png"/>
          <p:cNvPicPr preferRelativeResize="0"/>
          <p:nvPr/>
        </p:nvPicPr>
        <p:blipFill rotWithShape="1">
          <a:blip r:embed="rId5">
            <a:alphaModFix/>
          </a:blip>
          <a:srcRect b="2030" l="1160" r="49266" t="-2030"/>
          <a:stretch/>
        </p:blipFill>
        <p:spPr>
          <a:xfrm>
            <a:off x="7291818" y="935993"/>
            <a:ext cx="1691377" cy="194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title="EXP_20260427_125837_T.png"/>
          <p:cNvPicPr preferRelativeResize="0"/>
          <p:nvPr/>
        </p:nvPicPr>
        <p:blipFill rotWithShape="1">
          <a:blip r:embed="rId4">
            <a:alphaModFix/>
          </a:blip>
          <a:srcRect b="0" l="49982" r="0" t="0"/>
          <a:stretch/>
        </p:blipFill>
        <p:spPr>
          <a:xfrm>
            <a:off x="1990560" y="2921086"/>
            <a:ext cx="1723709" cy="196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title="EXP_20260427_125837_Hsed.png"/>
          <p:cNvPicPr preferRelativeResize="0"/>
          <p:nvPr/>
        </p:nvPicPr>
        <p:blipFill rotWithShape="1">
          <a:blip r:embed="rId3">
            <a:alphaModFix/>
          </a:blip>
          <a:srcRect b="0" l="49582" r="0" t="0"/>
          <a:stretch/>
        </p:blipFill>
        <p:spPr>
          <a:xfrm>
            <a:off x="3742504" y="2937446"/>
            <a:ext cx="1691377" cy="194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8">
            <a:alphaModFix/>
          </a:blip>
          <a:srcRect b="89128" l="9015" r="39795" t="7312"/>
          <a:stretch/>
        </p:blipFill>
        <p:spPr>
          <a:xfrm>
            <a:off x="949050" y="707042"/>
            <a:ext cx="7525200" cy="265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8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6138"/>
            <a:ext cx="8839197" cy="414837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>
            <p:ph type="ctrTitle"/>
          </p:nvPr>
        </p:nvSpPr>
        <p:spPr>
          <a:xfrm>
            <a:off x="0" y="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Result 1-3 SINDy discovered equations </a:t>
            </a:r>
            <a:endParaRPr b="1" sz="2580"/>
          </a:p>
        </p:txBody>
      </p:sp>
      <p:sp>
        <p:nvSpPr>
          <p:cNvPr id="181" name="Google Shape;181;p21"/>
          <p:cNvSpPr txBox="1"/>
          <p:nvPr/>
        </p:nvSpPr>
        <p:spPr>
          <a:xfrm>
            <a:off x="0" y="4776125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9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>
            <p:ph type="ctrTitle"/>
          </p:nvPr>
        </p:nvSpPr>
        <p:spPr>
          <a:xfrm>
            <a:off x="78300" y="616850"/>
            <a:ext cx="8845500" cy="66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270"/>
              <a:t>Conclusions</a:t>
            </a:r>
            <a:endParaRPr b="1" sz="2580"/>
          </a:p>
        </p:txBody>
      </p:sp>
      <p:sp>
        <p:nvSpPr>
          <p:cNvPr id="188" name="Google Shape;188;p22"/>
          <p:cNvSpPr txBox="1"/>
          <p:nvPr/>
        </p:nvSpPr>
        <p:spPr>
          <a:xfrm>
            <a:off x="761500" y="1496200"/>
            <a:ext cx="7818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1" u="sng">
                <a:solidFill>
                  <a:srgbClr val="434343"/>
                </a:solidFill>
              </a:rPr>
              <a:t>Hysteresis found</a:t>
            </a:r>
            <a:endParaRPr b="1" sz="1711" u="sng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11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711">
                <a:solidFill>
                  <a:srgbClr val="434343"/>
                </a:solidFill>
              </a:rPr>
              <a:t>	We have a tool for searching which variables produce the hysteresis</a:t>
            </a:r>
            <a:endParaRPr sz="1711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11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1" u="sng">
                <a:solidFill>
                  <a:srgbClr val="434343"/>
                </a:solidFill>
              </a:rPr>
              <a:t>PACCO “kinda of” rediscovered?</a:t>
            </a:r>
            <a:endParaRPr b="1" sz="1711" u="sng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11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711">
                <a:solidFill>
                  <a:srgbClr val="434343"/>
                </a:solidFill>
              </a:rPr>
              <a:t>	It is difficult to say. Of course, we have at least discovered a really good approximation</a:t>
            </a:r>
            <a:endParaRPr sz="1711">
              <a:solidFill>
                <a:srgbClr val="434343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1">
                <a:solidFill>
                  <a:srgbClr val="434343"/>
                </a:solidFill>
              </a:rPr>
              <a:t> </a:t>
            </a:r>
            <a:endParaRPr b="1" sz="1711">
              <a:solidFill>
                <a:srgbClr val="434343"/>
              </a:solidFill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78300" y="4658700"/>
            <a:ext cx="83619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11">
                <a:solidFill>
                  <a:srgbClr val="434343"/>
                </a:solidFill>
              </a:rPr>
              <a:t>10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